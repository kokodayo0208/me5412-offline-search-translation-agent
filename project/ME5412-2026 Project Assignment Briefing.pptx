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4"/>
  </p:notesMasterIdLst>
  <p:sldIdLst>
    <p:sldId id="3713" r:id="rId5"/>
    <p:sldId id="3717" r:id="rId6"/>
    <p:sldId id="3718" r:id="rId7"/>
    <p:sldId id="3719" r:id="rId8"/>
    <p:sldId id="3720" r:id="rId9"/>
    <p:sldId id="3721" r:id="rId10"/>
    <p:sldId id="3722" r:id="rId11"/>
    <p:sldId id="3723" r:id="rId12"/>
    <p:sldId id="372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3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40C4E9-4CBB-4622-BECE-1FE482E743F1}" type="datetimeFigureOut">
              <a:rPr lang="en-SG" smtClean="0"/>
              <a:t>29/9/2026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A0EA9F-A862-46DF-A8BB-07AF39A0785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771294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0042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71661" y="1796910"/>
            <a:ext cx="10482139" cy="2130321"/>
          </a:xfrm>
        </p:spPr>
        <p:txBody>
          <a:bodyPr anchor="t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71661" y="4184509"/>
            <a:ext cx="10482139" cy="1073291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482B0-A764-7649-BFD8-7624B53F13A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855177"/>
            <a:ext cx="682752" cy="682752"/>
          </a:xfrm>
          <a:prstGeom prst="rect">
            <a:avLst/>
          </a:prstGeom>
          <a:solidFill>
            <a:srgbClr val="ED7F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5661" y="312200"/>
            <a:ext cx="1773600" cy="810163"/>
          </a:xfrm>
          <a:prstGeom prst="rect">
            <a:avLst/>
          </a:prstGeom>
        </p:spPr>
      </p:pic>
      <p:sp>
        <p:nvSpPr>
          <p:cNvPr id="11" name="Text Box 20">
            <a:extLst>
              <a:ext uri="{FF2B5EF4-FFF2-40B4-BE49-F238E27FC236}">
                <a16:creationId xmlns:a16="http://schemas.microsoft.com/office/drawing/2014/main" id="{0C88264E-E49B-43E6-AA43-AB863A3FEE4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408103" y="6610267"/>
            <a:ext cx="2852063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r>
              <a:rPr lang="en-US" altLang="en-US" sz="7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Copyright National University of Singapore. All Rights Reserved. </a:t>
            </a:r>
          </a:p>
        </p:txBody>
      </p:sp>
    </p:spTree>
    <p:extLst>
      <p:ext uri="{BB962C8B-B14F-4D97-AF65-F5344CB8AC3E}">
        <p14:creationId xmlns:p14="http://schemas.microsoft.com/office/powerpoint/2010/main" val="11079478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C27715D-551A-419B-A195-17D3BAA49A33}"/>
              </a:ext>
            </a:extLst>
          </p:cNvPr>
          <p:cNvSpPr/>
          <p:nvPr userDrawn="1"/>
        </p:nvSpPr>
        <p:spPr>
          <a:xfrm>
            <a:off x="1" y="6171469"/>
            <a:ext cx="12191999" cy="686531"/>
          </a:xfrm>
          <a:prstGeom prst="rect">
            <a:avLst/>
          </a:prstGeom>
          <a:solidFill>
            <a:srgbClr val="0042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482B0-A764-7649-BFD8-7624B53F13A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Rectangle 7"/>
          <p:cNvSpPr/>
          <p:nvPr userDrawn="1"/>
        </p:nvSpPr>
        <p:spPr>
          <a:xfrm>
            <a:off x="0" y="686531"/>
            <a:ext cx="682752" cy="682752"/>
          </a:xfrm>
          <a:prstGeom prst="rect">
            <a:avLst/>
          </a:prstGeom>
          <a:solidFill>
            <a:srgbClr val="ED7F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20CEF2F-9D31-4986-8B5C-226889F2AA7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7523" y="6235303"/>
            <a:ext cx="806277" cy="368300"/>
          </a:xfrm>
          <a:prstGeom prst="rect">
            <a:avLst/>
          </a:prstGeom>
        </p:spPr>
      </p:pic>
      <p:sp>
        <p:nvSpPr>
          <p:cNvPr id="10" name="Text Box 20">
            <a:extLst>
              <a:ext uri="{FF2B5EF4-FFF2-40B4-BE49-F238E27FC236}">
                <a16:creationId xmlns:a16="http://schemas.microsoft.com/office/drawing/2014/main" id="{3E123297-99F9-49EC-A326-0769D3D763D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408103" y="6610267"/>
            <a:ext cx="2852063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r>
              <a:rPr lang="en-US" altLang="en-US" sz="7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Copyright National University of Singapore. All Rights Reserved. </a:t>
            </a:r>
          </a:p>
        </p:txBody>
      </p:sp>
    </p:spTree>
    <p:extLst>
      <p:ext uri="{BB962C8B-B14F-4D97-AF65-F5344CB8AC3E}">
        <p14:creationId xmlns:p14="http://schemas.microsoft.com/office/powerpoint/2010/main" val="526125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482B0-A764-7649-BFD8-7624B53F13A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Rectangle 7"/>
          <p:cNvSpPr/>
          <p:nvPr userDrawn="1"/>
        </p:nvSpPr>
        <p:spPr>
          <a:xfrm>
            <a:off x="0" y="3757976"/>
            <a:ext cx="682752" cy="682752"/>
          </a:xfrm>
          <a:prstGeom prst="rect">
            <a:avLst/>
          </a:prstGeom>
          <a:solidFill>
            <a:srgbClr val="ED7F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618B411-BC5F-4107-83EC-5FDAF1C7AD44}"/>
              </a:ext>
            </a:extLst>
          </p:cNvPr>
          <p:cNvSpPr/>
          <p:nvPr userDrawn="1"/>
        </p:nvSpPr>
        <p:spPr>
          <a:xfrm>
            <a:off x="1" y="6171469"/>
            <a:ext cx="12191999" cy="686531"/>
          </a:xfrm>
          <a:prstGeom prst="rect">
            <a:avLst/>
          </a:prstGeom>
          <a:solidFill>
            <a:srgbClr val="0042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EC90ADF-1ACE-46ED-980C-76DA36C88373}"/>
              </a:ext>
            </a:extLst>
          </p:cNvPr>
          <p:cNvSpPr txBox="1">
            <a:spLocks/>
          </p:cNvSpPr>
          <p:nvPr userDrawn="1"/>
        </p:nvSpPr>
        <p:spPr>
          <a:xfrm>
            <a:off x="10363200" y="6356351"/>
            <a:ext cx="990600" cy="365125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2E482B0-A764-7649-BFD8-7624B53F13A9}" type="slidenum">
              <a:rPr lang="en-GB" sz="1200" smtClean="0"/>
              <a:pPr/>
              <a:t>‹#›</a:t>
            </a:fld>
            <a:endParaRPr lang="en-GB" sz="12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B083666-2990-4DCD-9EDC-B1C5BCCAD2E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7523" y="6235303"/>
            <a:ext cx="806277" cy="368300"/>
          </a:xfrm>
          <a:prstGeom prst="rect">
            <a:avLst/>
          </a:prstGeom>
        </p:spPr>
      </p:pic>
      <p:sp>
        <p:nvSpPr>
          <p:cNvPr id="11" name="Text Box 20">
            <a:extLst>
              <a:ext uri="{FF2B5EF4-FFF2-40B4-BE49-F238E27FC236}">
                <a16:creationId xmlns:a16="http://schemas.microsoft.com/office/drawing/2014/main" id="{03B7DC74-C7A8-4120-AE24-B60348CA4E9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408103" y="6610267"/>
            <a:ext cx="2852063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r>
              <a:rPr lang="en-US" altLang="en-US" sz="7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Copyright National University of Singapore. All Rights Reserved. </a:t>
            </a:r>
          </a:p>
        </p:txBody>
      </p:sp>
    </p:spTree>
    <p:extLst>
      <p:ext uri="{BB962C8B-B14F-4D97-AF65-F5344CB8AC3E}">
        <p14:creationId xmlns:p14="http://schemas.microsoft.com/office/powerpoint/2010/main" val="8292831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482B0-A764-7649-BFD8-7624B53F13A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686531"/>
            <a:ext cx="682752" cy="682752"/>
          </a:xfrm>
          <a:prstGeom prst="rect">
            <a:avLst/>
          </a:prstGeom>
          <a:solidFill>
            <a:srgbClr val="ED7F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C1FD104-6679-41C5-8FB2-3D7E35B50371}"/>
              </a:ext>
            </a:extLst>
          </p:cNvPr>
          <p:cNvSpPr/>
          <p:nvPr userDrawn="1"/>
        </p:nvSpPr>
        <p:spPr>
          <a:xfrm>
            <a:off x="1" y="6171469"/>
            <a:ext cx="12191999" cy="686531"/>
          </a:xfrm>
          <a:prstGeom prst="rect">
            <a:avLst/>
          </a:prstGeom>
          <a:solidFill>
            <a:srgbClr val="0042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B3C80C0-BE25-4774-8023-D7807D2E7989}"/>
              </a:ext>
            </a:extLst>
          </p:cNvPr>
          <p:cNvSpPr txBox="1">
            <a:spLocks/>
          </p:cNvSpPr>
          <p:nvPr userDrawn="1"/>
        </p:nvSpPr>
        <p:spPr>
          <a:xfrm>
            <a:off x="10363200" y="6356351"/>
            <a:ext cx="990600" cy="365125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2E482B0-A764-7649-BFD8-7624B53F13A9}" type="slidenum">
              <a:rPr lang="en-GB" sz="1200" smtClean="0"/>
              <a:pPr/>
              <a:t>‹#›</a:t>
            </a:fld>
            <a:endParaRPr lang="en-GB" sz="12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AAE5448-8009-4633-A772-99BE2D4C916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7523" y="6235303"/>
            <a:ext cx="806277" cy="368300"/>
          </a:xfrm>
          <a:prstGeom prst="rect">
            <a:avLst/>
          </a:prstGeom>
        </p:spPr>
      </p:pic>
      <p:sp>
        <p:nvSpPr>
          <p:cNvPr id="12" name="Text Box 20">
            <a:extLst>
              <a:ext uri="{FF2B5EF4-FFF2-40B4-BE49-F238E27FC236}">
                <a16:creationId xmlns:a16="http://schemas.microsoft.com/office/drawing/2014/main" id="{FD78B53F-4ADB-46F6-B69D-B4D5C25A896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408103" y="6610267"/>
            <a:ext cx="2852063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r>
              <a:rPr lang="en-US" altLang="en-US" sz="7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Copyright National University of Singapore. All Rights Reserved. </a:t>
            </a:r>
          </a:p>
        </p:txBody>
      </p:sp>
    </p:spTree>
    <p:extLst>
      <p:ext uri="{BB962C8B-B14F-4D97-AF65-F5344CB8AC3E}">
        <p14:creationId xmlns:p14="http://schemas.microsoft.com/office/powerpoint/2010/main" val="17662088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482B0-A764-7649-BFD8-7624B53F13A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686531"/>
            <a:ext cx="682752" cy="682752"/>
          </a:xfrm>
          <a:prstGeom prst="rect">
            <a:avLst/>
          </a:prstGeom>
          <a:solidFill>
            <a:srgbClr val="ED7F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C895A7F-42B4-4230-9B12-991D686D3E2D}"/>
              </a:ext>
            </a:extLst>
          </p:cNvPr>
          <p:cNvSpPr/>
          <p:nvPr userDrawn="1"/>
        </p:nvSpPr>
        <p:spPr>
          <a:xfrm>
            <a:off x="1" y="6171469"/>
            <a:ext cx="12191999" cy="686531"/>
          </a:xfrm>
          <a:prstGeom prst="rect">
            <a:avLst/>
          </a:prstGeom>
          <a:solidFill>
            <a:srgbClr val="0042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3AC7466A-3A47-4936-AE52-3A77475333ED}"/>
              </a:ext>
            </a:extLst>
          </p:cNvPr>
          <p:cNvSpPr txBox="1">
            <a:spLocks/>
          </p:cNvSpPr>
          <p:nvPr userDrawn="1"/>
        </p:nvSpPr>
        <p:spPr>
          <a:xfrm>
            <a:off x="10363200" y="6356351"/>
            <a:ext cx="990600" cy="365125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2E482B0-A764-7649-BFD8-7624B53F13A9}" type="slidenum">
              <a:rPr lang="en-GB" sz="1200" smtClean="0"/>
              <a:pPr/>
              <a:t>‹#›</a:t>
            </a:fld>
            <a:endParaRPr lang="en-GB" sz="12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BC1F15B-246C-4A62-A9B9-15812C16C14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7523" y="6235303"/>
            <a:ext cx="806277" cy="368300"/>
          </a:xfrm>
          <a:prstGeom prst="rect">
            <a:avLst/>
          </a:prstGeom>
        </p:spPr>
      </p:pic>
      <p:sp>
        <p:nvSpPr>
          <p:cNvPr id="14" name="Text Box 20">
            <a:extLst>
              <a:ext uri="{FF2B5EF4-FFF2-40B4-BE49-F238E27FC236}">
                <a16:creationId xmlns:a16="http://schemas.microsoft.com/office/drawing/2014/main" id="{B6158C36-42C5-414E-B83D-3EC99113A01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408103" y="6610267"/>
            <a:ext cx="2852063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r>
              <a:rPr lang="en-US" altLang="en-US" sz="7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Copyright National University of Singapore. All Rights Reserved. </a:t>
            </a:r>
          </a:p>
        </p:txBody>
      </p:sp>
    </p:spTree>
    <p:extLst>
      <p:ext uri="{BB962C8B-B14F-4D97-AF65-F5344CB8AC3E}">
        <p14:creationId xmlns:p14="http://schemas.microsoft.com/office/powerpoint/2010/main" val="25274162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482B0-A764-7649-BFD8-7624B53F13A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CEADF9-E180-492A-A2C8-8488E38F4B42}"/>
              </a:ext>
            </a:extLst>
          </p:cNvPr>
          <p:cNvSpPr/>
          <p:nvPr userDrawn="1"/>
        </p:nvSpPr>
        <p:spPr>
          <a:xfrm>
            <a:off x="1" y="6171469"/>
            <a:ext cx="12191999" cy="686531"/>
          </a:xfrm>
          <a:prstGeom prst="rect">
            <a:avLst/>
          </a:prstGeom>
          <a:solidFill>
            <a:srgbClr val="0042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72414C-CAE3-439F-B176-6873B12D3741}"/>
              </a:ext>
            </a:extLst>
          </p:cNvPr>
          <p:cNvSpPr txBox="1">
            <a:spLocks/>
          </p:cNvSpPr>
          <p:nvPr userDrawn="1"/>
        </p:nvSpPr>
        <p:spPr>
          <a:xfrm>
            <a:off x="10363200" y="6356351"/>
            <a:ext cx="990600" cy="365125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2E482B0-A764-7649-BFD8-7624B53F13A9}" type="slidenum">
              <a:rPr lang="en-GB" sz="1200" smtClean="0"/>
              <a:pPr/>
              <a:t>‹#›</a:t>
            </a:fld>
            <a:endParaRPr lang="en-GB" sz="1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85835A9-E246-4240-AD59-C61208D5092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7523" y="6235303"/>
            <a:ext cx="806277" cy="368300"/>
          </a:xfrm>
          <a:prstGeom prst="rect">
            <a:avLst/>
          </a:prstGeom>
        </p:spPr>
      </p:pic>
      <p:sp>
        <p:nvSpPr>
          <p:cNvPr id="8" name="Text Box 20">
            <a:extLst>
              <a:ext uri="{FF2B5EF4-FFF2-40B4-BE49-F238E27FC236}">
                <a16:creationId xmlns:a16="http://schemas.microsoft.com/office/drawing/2014/main" id="{D29B6C1D-F015-4379-B982-E06C5ED4410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408103" y="6610267"/>
            <a:ext cx="2852063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r>
              <a:rPr lang="en-US" altLang="en-US" sz="7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Copyright National University of Singapore. All Rights Reserved. </a:t>
            </a:r>
          </a:p>
        </p:txBody>
      </p:sp>
    </p:spTree>
    <p:extLst>
      <p:ext uri="{BB962C8B-B14F-4D97-AF65-F5344CB8AC3E}">
        <p14:creationId xmlns:p14="http://schemas.microsoft.com/office/powerpoint/2010/main" val="1204762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482B0-A764-7649-BFD8-7624B53F13A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FA6B04B-848B-4BCB-80F3-207BE4A3D02E}"/>
              </a:ext>
            </a:extLst>
          </p:cNvPr>
          <p:cNvSpPr/>
          <p:nvPr userDrawn="1"/>
        </p:nvSpPr>
        <p:spPr>
          <a:xfrm>
            <a:off x="1" y="6171469"/>
            <a:ext cx="12191999" cy="686531"/>
          </a:xfrm>
          <a:prstGeom prst="rect">
            <a:avLst/>
          </a:prstGeom>
          <a:solidFill>
            <a:srgbClr val="0042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15BF422-A933-4963-863E-74D88524371D}"/>
              </a:ext>
            </a:extLst>
          </p:cNvPr>
          <p:cNvSpPr txBox="1">
            <a:spLocks/>
          </p:cNvSpPr>
          <p:nvPr userDrawn="1"/>
        </p:nvSpPr>
        <p:spPr>
          <a:xfrm>
            <a:off x="10363200" y="6356351"/>
            <a:ext cx="990600" cy="365125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2E482B0-A764-7649-BFD8-7624B53F13A9}" type="slidenum">
              <a:rPr lang="en-GB" sz="1200" smtClean="0"/>
              <a:pPr/>
              <a:t>‹#›</a:t>
            </a:fld>
            <a:endParaRPr lang="en-GB" sz="1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27D342-3CA7-4656-9FA7-165EDCFEB1B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7523" y="6235303"/>
            <a:ext cx="806277" cy="368300"/>
          </a:xfrm>
          <a:prstGeom prst="rect">
            <a:avLst/>
          </a:prstGeom>
        </p:spPr>
      </p:pic>
      <p:sp>
        <p:nvSpPr>
          <p:cNvPr id="7" name="Text Box 20">
            <a:extLst>
              <a:ext uri="{FF2B5EF4-FFF2-40B4-BE49-F238E27FC236}">
                <a16:creationId xmlns:a16="http://schemas.microsoft.com/office/drawing/2014/main" id="{68CDF8DD-2F9D-4729-A5A3-85C0570DC58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408103" y="6610267"/>
            <a:ext cx="2852063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r>
              <a:rPr lang="en-US" altLang="en-US" sz="7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Copyright National University of Singapore. All Rights Reserved. </a:t>
            </a:r>
          </a:p>
        </p:txBody>
      </p:sp>
    </p:spTree>
    <p:extLst>
      <p:ext uri="{BB962C8B-B14F-4D97-AF65-F5344CB8AC3E}">
        <p14:creationId xmlns:p14="http://schemas.microsoft.com/office/powerpoint/2010/main" val="17081308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482B0-A764-7649-BFD8-7624B53F13A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177927"/>
            <a:ext cx="682752" cy="682752"/>
          </a:xfrm>
          <a:prstGeom prst="rect">
            <a:avLst/>
          </a:prstGeom>
          <a:solidFill>
            <a:srgbClr val="ED7F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956A7E6-1195-4DE3-AF65-DD167ECB1687}"/>
              </a:ext>
            </a:extLst>
          </p:cNvPr>
          <p:cNvSpPr/>
          <p:nvPr userDrawn="1"/>
        </p:nvSpPr>
        <p:spPr>
          <a:xfrm>
            <a:off x="1" y="6171469"/>
            <a:ext cx="12191999" cy="686531"/>
          </a:xfrm>
          <a:prstGeom prst="rect">
            <a:avLst/>
          </a:prstGeom>
          <a:solidFill>
            <a:srgbClr val="0042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9A3E38C-BF92-4DB2-827A-25FEFE1AF599}"/>
              </a:ext>
            </a:extLst>
          </p:cNvPr>
          <p:cNvSpPr txBox="1">
            <a:spLocks/>
          </p:cNvSpPr>
          <p:nvPr userDrawn="1"/>
        </p:nvSpPr>
        <p:spPr>
          <a:xfrm>
            <a:off x="10363200" y="6356351"/>
            <a:ext cx="990600" cy="365125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2E482B0-A764-7649-BFD8-7624B53F13A9}" type="slidenum">
              <a:rPr lang="en-GB" sz="1200" smtClean="0"/>
              <a:pPr/>
              <a:t>‹#›</a:t>
            </a:fld>
            <a:endParaRPr lang="en-GB" sz="12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120FA5E-E5AF-49CD-8A43-C3A1FF453E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7523" y="6235303"/>
            <a:ext cx="806277" cy="368300"/>
          </a:xfrm>
          <a:prstGeom prst="rect">
            <a:avLst/>
          </a:prstGeom>
        </p:spPr>
      </p:pic>
      <p:sp>
        <p:nvSpPr>
          <p:cNvPr id="12" name="Text Box 20">
            <a:extLst>
              <a:ext uri="{FF2B5EF4-FFF2-40B4-BE49-F238E27FC236}">
                <a16:creationId xmlns:a16="http://schemas.microsoft.com/office/drawing/2014/main" id="{183ED32C-2B72-4E4A-9F9E-EF8796ABBE2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408103" y="6610267"/>
            <a:ext cx="2852063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r>
              <a:rPr lang="en-US" altLang="en-US" sz="7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Copyright National University of Singapore. All Rights Reserved. </a:t>
            </a:r>
          </a:p>
        </p:txBody>
      </p:sp>
    </p:spTree>
    <p:extLst>
      <p:ext uri="{BB962C8B-B14F-4D97-AF65-F5344CB8AC3E}">
        <p14:creationId xmlns:p14="http://schemas.microsoft.com/office/powerpoint/2010/main" val="3982806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482B0-A764-7649-BFD8-7624B53F13A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177927"/>
            <a:ext cx="682752" cy="682752"/>
          </a:xfrm>
          <a:prstGeom prst="rect">
            <a:avLst/>
          </a:prstGeom>
          <a:solidFill>
            <a:srgbClr val="ED7F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89F677D-CAFD-4D20-9A05-8EF3E632C53A}"/>
              </a:ext>
            </a:extLst>
          </p:cNvPr>
          <p:cNvSpPr/>
          <p:nvPr userDrawn="1"/>
        </p:nvSpPr>
        <p:spPr>
          <a:xfrm>
            <a:off x="1" y="6171469"/>
            <a:ext cx="12191999" cy="686531"/>
          </a:xfrm>
          <a:prstGeom prst="rect">
            <a:avLst/>
          </a:prstGeom>
          <a:solidFill>
            <a:srgbClr val="0042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D1BC3B4F-11FF-40F8-BE4E-B1DCBE0B6703}"/>
              </a:ext>
            </a:extLst>
          </p:cNvPr>
          <p:cNvSpPr txBox="1">
            <a:spLocks/>
          </p:cNvSpPr>
          <p:nvPr userDrawn="1"/>
        </p:nvSpPr>
        <p:spPr>
          <a:xfrm>
            <a:off x="10363200" y="6356351"/>
            <a:ext cx="990600" cy="365125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2E482B0-A764-7649-BFD8-7624B53F13A9}" type="slidenum">
              <a:rPr lang="en-GB" sz="1200" smtClean="0"/>
              <a:pPr/>
              <a:t>‹#›</a:t>
            </a:fld>
            <a:endParaRPr lang="en-GB" sz="12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A77C30D-E2AC-469E-A7F4-75F2F21CCDD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7523" y="6235303"/>
            <a:ext cx="806277" cy="368300"/>
          </a:xfrm>
          <a:prstGeom prst="rect">
            <a:avLst/>
          </a:prstGeom>
        </p:spPr>
      </p:pic>
      <p:sp>
        <p:nvSpPr>
          <p:cNvPr id="12" name="Text Box 20">
            <a:extLst>
              <a:ext uri="{FF2B5EF4-FFF2-40B4-BE49-F238E27FC236}">
                <a16:creationId xmlns:a16="http://schemas.microsoft.com/office/drawing/2014/main" id="{71C79347-7887-48D3-85D5-DA0D8909B9A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408103" y="6610267"/>
            <a:ext cx="2852063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r>
              <a:rPr lang="en-US" altLang="en-US" sz="7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Copyright National University of Singapore. All Rights Reserved. </a:t>
            </a:r>
          </a:p>
        </p:txBody>
      </p:sp>
    </p:spTree>
    <p:extLst>
      <p:ext uri="{BB962C8B-B14F-4D97-AF65-F5344CB8AC3E}">
        <p14:creationId xmlns:p14="http://schemas.microsoft.com/office/powerpoint/2010/main" val="33812176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482B0-A764-7649-BFD8-7624B53F13A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Rectangle 7"/>
          <p:cNvSpPr/>
          <p:nvPr userDrawn="1"/>
        </p:nvSpPr>
        <p:spPr>
          <a:xfrm>
            <a:off x="0" y="686531"/>
            <a:ext cx="682752" cy="682752"/>
          </a:xfrm>
          <a:prstGeom prst="rect">
            <a:avLst/>
          </a:prstGeom>
          <a:solidFill>
            <a:srgbClr val="ED7F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A091A66-BD01-4366-9EC4-BE18FE60E84A}"/>
              </a:ext>
            </a:extLst>
          </p:cNvPr>
          <p:cNvSpPr/>
          <p:nvPr userDrawn="1"/>
        </p:nvSpPr>
        <p:spPr>
          <a:xfrm>
            <a:off x="1" y="6171469"/>
            <a:ext cx="12191999" cy="686531"/>
          </a:xfrm>
          <a:prstGeom prst="rect">
            <a:avLst/>
          </a:prstGeom>
          <a:solidFill>
            <a:srgbClr val="0042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FA9ACBA-003B-4BC0-A9A3-A58A05DE8E0B}"/>
              </a:ext>
            </a:extLst>
          </p:cNvPr>
          <p:cNvSpPr txBox="1">
            <a:spLocks/>
          </p:cNvSpPr>
          <p:nvPr userDrawn="1"/>
        </p:nvSpPr>
        <p:spPr>
          <a:xfrm>
            <a:off x="10363200" y="6356351"/>
            <a:ext cx="990600" cy="365125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2E482B0-A764-7649-BFD8-7624B53F13A9}" type="slidenum">
              <a:rPr lang="en-GB" sz="1200" smtClean="0"/>
              <a:pPr/>
              <a:t>‹#›</a:t>
            </a:fld>
            <a:endParaRPr lang="en-GB" sz="12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2AB93D1-E791-4821-A011-F8DB0195788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7523" y="6235303"/>
            <a:ext cx="806277" cy="368300"/>
          </a:xfrm>
          <a:prstGeom prst="rect">
            <a:avLst/>
          </a:prstGeom>
        </p:spPr>
      </p:pic>
      <p:sp>
        <p:nvSpPr>
          <p:cNvPr id="11" name="Text Box 20">
            <a:extLst>
              <a:ext uri="{FF2B5EF4-FFF2-40B4-BE49-F238E27FC236}">
                <a16:creationId xmlns:a16="http://schemas.microsoft.com/office/drawing/2014/main" id="{07771E75-8542-446E-A761-850C5D6FA67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408103" y="6610267"/>
            <a:ext cx="2852063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r>
              <a:rPr lang="en-US" altLang="en-US" sz="7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Copyright National University of Singapore. All Rights Reserved. </a:t>
            </a:r>
          </a:p>
        </p:txBody>
      </p:sp>
    </p:spTree>
    <p:extLst>
      <p:ext uri="{BB962C8B-B14F-4D97-AF65-F5344CB8AC3E}">
        <p14:creationId xmlns:p14="http://schemas.microsoft.com/office/powerpoint/2010/main" val="42440176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6"/>
            <a:ext cx="2628900" cy="581183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6"/>
            <a:ext cx="7734300" cy="581183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482B0-A764-7649-BFD8-7624B53F13A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45151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6885224"/>
      </p:ext>
    </p:extLst>
  </p:cSld>
  <p:clrMapOvr>
    <a:masterClrMapping/>
  </p:clrMapOvr>
  <p:transition spd="med">
    <p:wipe dir="r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>
  <p:cSld name="Titolo, contenuto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304800" y="1"/>
            <a:ext cx="11262784" cy="836613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304800" y="981076"/>
            <a:ext cx="5528733" cy="5114925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6036733" y="981076"/>
            <a:ext cx="5530851" cy="5114925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2275371167"/>
      </p:ext>
    </p:extLst>
  </p:cSld>
  <p:clrMapOvr>
    <a:masterClrMapping/>
  </p:clrMapOvr>
  <p:transition spd="med"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6356351"/>
            <a:ext cx="990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fld id="{C2E482B0-A764-7649-BFD8-7624B53F13A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28642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800" b="1" kern="1200">
          <a:solidFill>
            <a:srgbClr val="004282"/>
          </a:solidFill>
          <a:latin typeface="+mn-lt"/>
          <a:ea typeface="Arial" charset="0"/>
          <a:cs typeface="Arial" charset="0"/>
        </a:defRPr>
      </a:lvl1pPr>
    </p:titleStyle>
    <p:bodyStyle>
      <a:lvl1pPr marL="228594" indent="-228594" algn="l" defTabSz="914377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3200" kern="1200">
          <a:solidFill>
            <a:srgbClr val="004282"/>
          </a:solidFill>
          <a:latin typeface="+mn-lt"/>
          <a:ea typeface="Arial" charset="0"/>
          <a:cs typeface="Arial" charset="0"/>
        </a:defRPr>
      </a:lvl1pPr>
      <a:lvl2pPr marL="685783" indent="-228594" algn="l" defTabSz="914377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2667" kern="1200">
          <a:solidFill>
            <a:srgbClr val="004282"/>
          </a:solidFill>
          <a:latin typeface="+mn-lt"/>
          <a:ea typeface="Arial" charset="0"/>
          <a:cs typeface="Arial" charset="0"/>
        </a:defRPr>
      </a:lvl2pPr>
      <a:lvl3pPr marL="1142971" indent="-228594" algn="l" defTabSz="914377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2133" kern="1200">
          <a:solidFill>
            <a:srgbClr val="004282"/>
          </a:solidFill>
          <a:latin typeface="+mn-lt"/>
          <a:ea typeface="Arial" charset="0"/>
          <a:cs typeface="Arial" charset="0"/>
        </a:defRPr>
      </a:lvl3pPr>
      <a:lvl4pPr marL="1600160" indent="-228594" algn="l" defTabSz="914377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867" kern="1200">
          <a:solidFill>
            <a:srgbClr val="004282"/>
          </a:solidFill>
          <a:latin typeface="+mn-lt"/>
          <a:ea typeface="Arial" charset="0"/>
          <a:cs typeface="Arial" charset="0"/>
        </a:defRPr>
      </a:lvl4pPr>
      <a:lvl5pPr marL="2057349" indent="-228594" algn="l" defTabSz="914377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867" kern="1200">
          <a:solidFill>
            <a:srgbClr val="004282"/>
          </a:solidFill>
          <a:latin typeface="+mn-lt"/>
          <a:ea typeface="Arial" charset="0"/>
          <a:cs typeface="Arial" charset="0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mailto:e0281337@u.nus.edu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emprise.cs.cornell.edu/rcareworld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71661" y="1796910"/>
            <a:ext cx="11320339" cy="2130321"/>
          </a:xfrm>
        </p:spPr>
        <p:txBody>
          <a:bodyPr anchor="t">
            <a:normAutofit/>
          </a:bodyPr>
          <a:lstStyle/>
          <a:p>
            <a:r>
              <a:rPr lang="en-GB" sz="5400" dirty="0"/>
              <a:t>ME5412 Robotics for Healthcare</a:t>
            </a:r>
            <a:br>
              <a:rPr lang="en-GB" sz="5400" dirty="0"/>
            </a:br>
            <a:r>
              <a:rPr lang="en-GB" sz="4800" dirty="0">
                <a:solidFill>
                  <a:srgbClr val="ED7F0D"/>
                </a:solidFill>
              </a:rPr>
              <a:t>Group Project Briefing</a:t>
            </a:r>
            <a:endParaRPr lang="en-GB" dirty="0">
              <a:solidFill>
                <a:srgbClr val="ED7F0D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02325" y="3821876"/>
            <a:ext cx="5340723" cy="1655763"/>
          </a:xfrm>
        </p:spPr>
        <p:txBody>
          <a:bodyPr>
            <a:normAutofit/>
          </a:bodyPr>
          <a:lstStyle/>
          <a:p>
            <a:r>
              <a:rPr lang="en-US" altLang="en-US" dirty="0"/>
              <a:t>Cecilia Laschi</a:t>
            </a:r>
          </a:p>
          <a:p>
            <a:r>
              <a:rPr lang="en-US" altLang="en-US" dirty="0"/>
              <a:t>Department of Mechanical Engineering mpeclc@nus.edu.sg</a:t>
            </a:r>
          </a:p>
          <a:p>
            <a:endParaRPr lang="en-GB" dirty="0"/>
          </a:p>
        </p:txBody>
      </p:sp>
      <p:sp>
        <p:nvSpPr>
          <p:cNvPr id="4" name="Rectangle 3"/>
          <p:cNvSpPr/>
          <p:nvPr/>
        </p:nvSpPr>
        <p:spPr>
          <a:xfrm>
            <a:off x="1002324" y="3894997"/>
            <a:ext cx="45720" cy="1116623"/>
          </a:xfrm>
          <a:prstGeom prst="rect">
            <a:avLst/>
          </a:prstGeom>
          <a:solidFill>
            <a:srgbClr val="ED7F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840EA0A2-6F4D-EC66-E807-A12EC84BD32A}"/>
              </a:ext>
            </a:extLst>
          </p:cNvPr>
          <p:cNvSpPr txBox="1">
            <a:spLocks/>
          </p:cNvSpPr>
          <p:nvPr/>
        </p:nvSpPr>
        <p:spPr>
          <a:xfrm>
            <a:off x="6303710" y="3821876"/>
            <a:ext cx="5301385" cy="1655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Arial" charset="0"/>
                <a:cs typeface="Arial" charset="0"/>
              </a:defRPr>
            </a:lvl1pPr>
            <a:lvl2pPr marL="457189" indent="0" algn="ctr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kern="1200">
                <a:solidFill>
                  <a:srgbClr val="004282"/>
                </a:solidFill>
                <a:latin typeface="+mn-lt"/>
                <a:ea typeface="Arial" charset="0"/>
                <a:cs typeface="Arial" charset="0"/>
              </a:defRPr>
            </a:lvl2pPr>
            <a:lvl3pPr marL="914377" indent="0" algn="ctr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>
                <a:solidFill>
                  <a:srgbClr val="004282"/>
                </a:solidFill>
                <a:latin typeface="+mn-lt"/>
                <a:ea typeface="Arial" charset="0"/>
                <a:cs typeface="Arial" charset="0"/>
              </a:defRPr>
            </a:lvl3pPr>
            <a:lvl4pPr marL="1371566" indent="0" algn="ctr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rgbClr val="004282"/>
                </a:solidFill>
                <a:latin typeface="+mn-lt"/>
                <a:ea typeface="Arial" charset="0"/>
                <a:cs typeface="Arial" charset="0"/>
              </a:defRPr>
            </a:lvl4pPr>
            <a:lvl5pPr marL="1828754" indent="0" algn="ctr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rgbClr val="004282"/>
                </a:solidFill>
                <a:latin typeface="+mn-lt"/>
                <a:ea typeface="Arial" charset="0"/>
                <a:cs typeface="Arial" charset="0"/>
              </a:defRPr>
            </a:lvl5pPr>
            <a:lvl6pPr marL="2285943" indent="0" algn="ctr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indent="0" algn="ctr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indent="0" algn="ctr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indent="0" algn="ctr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cs typeface="Arial" charset="0"/>
              </a:rPr>
              <a:t>Haoyong Yu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cs typeface="Arial" charset="0"/>
              </a:rPr>
              <a:t>Department on Biomedical Engineering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cs typeface="Arial" charset="0"/>
              </a:rPr>
              <a:t>bieyhy@nus.edu.sg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cs typeface="Arial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A3CCA4-949E-AEEB-E0B8-1F76B7EDF958}"/>
              </a:ext>
            </a:extLst>
          </p:cNvPr>
          <p:cNvSpPr txBox="1"/>
          <p:nvPr/>
        </p:nvSpPr>
        <p:spPr>
          <a:xfrm>
            <a:off x="1002323" y="1"/>
            <a:ext cx="111896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srgbClr val="ED7F0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MSc in Robotics</a:t>
            </a:r>
            <a:endParaRPr kumimoji="0" lang="en-SG" sz="2400" b="0" i="0" u="none" strike="noStrike" kern="1200" cap="none" spc="0" normalizeH="0" baseline="0" noProof="0" dirty="0">
              <a:ln>
                <a:noFill/>
              </a:ln>
              <a:solidFill>
                <a:srgbClr val="ED7F0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8147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114F2-143D-FBBE-87A6-6CFCAF234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E36245-D12C-ECA9-7514-8AEC36FB67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G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E43FC9-EC67-6F91-7823-DD220DD3CC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499"/>
            <a:ext cx="12192000" cy="6811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8597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E61E4-EA87-8ECA-C1F4-146C2B2B2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09592D-89D8-4386-3074-88D9D96C0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G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A27609-F796-6DAB-7B30-9ADF2A7D6F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51" y="-14604"/>
            <a:ext cx="12116930" cy="6872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5192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57024-C9AA-CB23-4E11-883B598E7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255043-CA3F-4244-15EA-83AABC6D68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G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7219EB-105A-02B6-2DA1-D7DC15A05D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6057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2652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B76B0-1B6B-CD36-7024-1E6E8969A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Groups Formed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C6172-6034-B5A9-C6CA-90B52F93B3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19 Project Groups formed</a:t>
            </a:r>
          </a:p>
          <a:p>
            <a:r>
              <a:rPr lang="en-US" dirty="0"/>
              <a:t>5 students in each group, except group 4 with 6 students</a:t>
            </a:r>
          </a:p>
          <a:p>
            <a:r>
              <a:rPr lang="en-SG" dirty="0"/>
              <a:t>Project 1 has 3 students: Chen Zekai, He </a:t>
            </a:r>
            <a:r>
              <a:rPr lang="en-SG" dirty="0" err="1"/>
              <a:t>Shiheng</a:t>
            </a:r>
            <a:r>
              <a:rPr lang="en-SG" dirty="0"/>
              <a:t>, </a:t>
            </a:r>
            <a:r>
              <a:rPr lang="en-SG" dirty="0" err="1"/>
              <a:t>Wanf</a:t>
            </a:r>
            <a:r>
              <a:rPr lang="en-SG" dirty="0"/>
              <a:t> </a:t>
            </a:r>
            <a:r>
              <a:rPr lang="en-SG" dirty="0" err="1"/>
              <a:t>Yuru</a:t>
            </a:r>
            <a:endParaRPr lang="en-SG" dirty="0"/>
          </a:p>
          <a:p>
            <a:pPr lvl="1"/>
            <a:r>
              <a:rPr lang="en-SG" dirty="0"/>
              <a:t>Can </a:t>
            </a:r>
            <a:r>
              <a:rPr lang="fi-FI" dirty="0"/>
              <a:t>Jonathan Lim Zhan Rui </a:t>
            </a:r>
            <a:r>
              <a:rPr lang="fi-FI" dirty="0">
                <a:hlinkClick r:id="rId2"/>
              </a:rPr>
              <a:t>e0281337@u.nus.edu</a:t>
            </a:r>
            <a:r>
              <a:rPr lang="fi-FI" dirty="0"/>
              <a:t> join this group?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8802275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17CC6-2C2B-3F0D-8BF1-38C76D124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Scopes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EA6CF0-DD5C-1CF4-0791-212EE00BFA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4464" y="1428810"/>
            <a:ext cx="10515600" cy="4351339"/>
          </a:xfrm>
        </p:spPr>
        <p:txBody>
          <a:bodyPr>
            <a:noAutofit/>
          </a:bodyPr>
          <a:lstStyle/>
          <a:p>
            <a:r>
              <a:rPr lang="en-US" sz="2400" dirty="0"/>
              <a:t>Robotics in Healthcare</a:t>
            </a:r>
          </a:p>
          <a:p>
            <a:pPr lvl="1"/>
            <a:r>
              <a:rPr lang="en-US" sz="2400" dirty="0"/>
              <a:t>Assistive robots</a:t>
            </a:r>
          </a:p>
          <a:p>
            <a:pPr lvl="1"/>
            <a:r>
              <a:rPr lang="en-US" sz="2400" dirty="0"/>
              <a:t>Rehab robots</a:t>
            </a:r>
          </a:p>
          <a:p>
            <a:pPr lvl="1"/>
            <a:r>
              <a:rPr lang="en-US" sz="2400" dirty="0"/>
              <a:t>Prosthetics</a:t>
            </a:r>
          </a:p>
          <a:p>
            <a:pPr lvl="1"/>
            <a:r>
              <a:rPr lang="en-US" sz="2400" dirty="0"/>
              <a:t>Robotics for healthcare workers</a:t>
            </a:r>
          </a:p>
          <a:p>
            <a:pPr lvl="1"/>
            <a:r>
              <a:rPr lang="en-US" sz="2400" dirty="0"/>
              <a:t>Other healthcare related robotics systems</a:t>
            </a:r>
          </a:p>
          <a:p>
            <a:r>
              <a:rPr lang="en-US" sz="2400" dirty="0"/>
              <a:t>Assistive Technologies and devices</a:t>
            </a:r>
          </a:p>
          <a:p>
            <a:pPr lvl="1"/>
            <a:r>
              <a:rPr lang="en-US" sz="2400" dirty="0"/>
              <a:t>Mobility aids</a:t>
            </a:r>
          </a:p>
          <a:p>
            <a:pPr lvl="1"/>
            <a:r>
              <a:rPr lang="en-US" sz="2400" dirty="0"/>
              <a:t>ADL assistive devices</a:t>
            </a:r>
          </a:p>
          <a:p>
            <a:pPr lvl="1"/>
            <a:r>
              <a:rPr lang="en-US" sz="2400" dirty="0"/>
              <a:t>Assistive devices for the elderly or people with disability</a:t>
            </a:r>
          </a:p>
          <a:p>
            <a:pPr lvl="1"/>
            <a:r>
              <a:rPr lang="en-US" sz="2400" dirty="0"/>
              <a:t>Social robots</a:t>
            </a:r>
          </a:p>
          <a:p>
            <a:pPr lvl="1"/>
            <a:r>
              <a:rPr lang="en-US" sz="2400" dirty="0"/>
              <a:t>Any assistive technologies to improve quality of life</a:t>
            </a:r>
          </a:p>
          <a:p>
            <a:pPr lvl="1"/>
            <a:endParaRPr lang="en-SG" sz="2400" dirty="0"/>
          </a:p>
        </p:txBody>
      </p:sp>
    </p:spTree>
    <p:extLst>
      <p:ext uri="{BB962C8B-B14F-4D97-AF65-F5344CB8AC3E}">
        <p14:creationId xmlns:p14="http://schemas.microsoft.com/office/powerpoint/2010/main" val="1108723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8E29D-4CC3-8F74-E38A-0EE168458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 and Focuses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F9D185-386D-5ABA-06C4-66F5FF2701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Be more specific on the healthcare problems to be solved</a:t>
            </a:r>
          </a:p>
          <a:p>
            <a:r>
              <a:rPr lang="en-US" dirty="0"/>
              <a:t>Be more specific on your innovations and solutions</a:t>
            </a:r>
          </a:p>
          <a:p>
            <a:pPr lvl="1"/>
            <a:r>
              <a:rPr lang="en-US" dirty="0"/>
              <a:t>New systems or devices</a:t>
            </a:r>
          </a:p>
          <a:p>
            <a:pPr lvl="1"/>
            <a:r>
              <a:rPr lang="en-US" dirty="0"/>
              <a:t>New approaches to solve an existing problem</a:t>
            </a:r>
          </a:p>
          <a:p>
            <a:pPr lvl="2"/>
            <a:r>
              <a:rPr lang="en-US" dirty="0"/>
              <a:t>New Mechanical Structure</a:t>
            </a:r>
          </a:p>
          <a:p>
            <a:pPr lvl="2"/>
            <a:r>
              <a:rPr lang="en-US" dirty="0"/>
              <a:t>New actuation</a:t>
            </a:r>
          </a:p>
          <a:p>
            <a:pPr lvl="2"/>
            <a:r>
              <a:rPr lang="en-US" dirty="0"/>
              <a:t>New sensing</a:t>
            </a:r>
          </a:p>
          <a:p>
            <a:pPr lvl="2"/>
            <a:r>
              <a:rPr lang="en-US" dirty="0"/>
              <a:t>New interface</a:t>
            </a:r>
          </a:p>
          <a:p>
            <a:pPr lvl="2"/>
            <a:r>
              <a:rPr lang="en-US" dirty="0"/>
              <a:t>New control algorithm or software architecture (AI, high level, mid level, or low level)</a:t>
            </a:r>
          </a:p>
          <a:p>
            <a:pPr lvl="1"/>
            <a:r>
              <a:rPr lang="en-SG" dirty="0"/>
              <a:t>Avoid a broad and vague problem with a wish list of technologies without focus</a:t>
            </a:r>
          </a:p>
        </p:txBody>
      </p:sp>
    </p:spTree>
    <p:extLst>
      <p:ext uri="{BB962C8B-B14F-4D97-AF65-F5344CB8AC3E}">
        <p14:creationId xmlns:p14="http://schemas.microsoft.com/office/powerpoint/2010/main" val="9881436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29D54-8535-836E-1AC3-550D23AF1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Guideline on Presentations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EF7262-571F-2CB4-4AC1-9F7A4A087D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1942"/>
            <a:ext cx="10515600" cy="4351339"/>
          </a:xfrm>
        </p:spPr>
        <p:txBody>
          <a:bodyPr/>
          <a:lstStyle/>
          <a:p>
            <a:r>
              <a:rPr lang="en-US" dirty="0"/>
              <a:t>10-15 minutes presentation and 5 minutes Q&amp;A per group</a:t>
            </a:r>
          </a:p>
          <a:p>
            <a:pPr lvl="1"/>
            <a:r>
              <a:rPr lang="en-US" dirty="0"/>
              <a:t>Problem statement</a:t>
            </a:r>
          </a:p>
          <a:p>
            <a:pPr lvl="1"/>
            <a:r>
              <a:rPr lang="en-US" dirty="0"/>
              <a:t>Existing solutions and gaps</a:t>
            </a:r>
          </a:p>
          <a:p>
            <a:pPr lvl="1"/>
            <a:r>
              <a:rPr lang="en-US" dirty="0"/>
              <a:t>Proposed solutions</a:t>
            </a:r>
          </a:p>
          <a:p>
            <a:pPr lvl="2"/>
            <a:r>
              <a:rPr lang="en-US" dirty="0"/>
              <a:t>Diagrams</a:t>
            </a:r>
          </a:p>
          <a:p>
            <a:pPr lvl="2"/>
            <a:r>
              <a:rPr lang="en-US" dirty="0"/>
              <a:t>CAD designs</a:t>
            </a:r>
          </a:p>
          <a:p>
            <a:pPr lvl="2"/>
            <a:r>
              <a:rPr lang="en-US" dirty="0"/>
              <a:t>Simulations</a:t>
            </a:r>
          </a:p>
          <a:p>
            <a:pPr lvl="2"/>
            <a:r>
              <a:rPr lang="en-US" dirty="0"/>
              <a:t>Videos</a:t>
            </a:r>
          </a:p>
          <a:p>
            <a:pPr lvl="2"/>
            <a:r>
              <a:rPr lang="en-US" dirty="0"/>
              <a:t>Anoth forms of visualization</a:t>
            </a:r>
          </a:p>
          <a:p>
            <a:pPr lvl="1"/>
            <a:r>
              <a:rPr lang="en-US" dirty="0"/>
              <a:t>Summary and discussion </a:t>
            </a:r>
          </a:p>
          <a:p>
            <a:pPr lvl="2"/>
            <a:r>
              <a:rPr lang="en-US" dirty="0"/>
              <a:t>Close the loop!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0014746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90FDC-9C3C-34D1-FE83-5CB0509EF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Simulator Example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2335C2-4273-2A33-2405-DFE49562D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406660" cy="4351339"/>
          </a:xfrm>
        </p:spPr>
        <p:txBody>
          <a:bodyPr/>
          <a:lstStyle/>
          <a:p>
            <a:r>
              <a:rPr lang="en-SG" dirty="0" err="1"/>
              <a:t>RCareWorld</a:t>
            </a:r>
            <a:r>
              <a:rPr lang="en-SG" dirty="0"/>
              <a:t>: A Human-centric Simulation World for</a:t>
            </a:r>
            <a:br>
              <a:rPr lang="en-SG" dirty="0"/>
            </a:br>
            <a:r>
              <a:rPr lang="en-SG" dirty="0"/>
              <a:t>Caregiving Robots</a:t>
            </a:r>
          </a:p>
          <a:p>
            <a:r>
              <a:rPr lang="en-SG" dirty="0" err="1">
                <a:hlinkClick r:id="rId2"/>
              </a:rPr>
              <a:t>RCareWorld</a:t>
            </a:r>
            <a:r>
              <a:rPr lang="en-SG" dirty="0">
                <a:hlinkClick r:id="rId2"/>
              </a:rPr>
              <a:t>: A Human-centric Simulation World for Caregiving Robots – </a:t>
            </a:r>
            <a:r>
              <a:rPr lang="en-SG" dirty="0" err="1">
                <a:hlinkClick r:id="rId2"/>
              </a:rPr>
              <a:t>RCareWorld</a:t>
            </a:r>
            <a:endParaRPr lang="en-SG" dirty="0"/>
          </a:p>
          <a:p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CD3E14-CB52-0111-A723-DC8DA23F67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8301" y="1825625"/>
            <a:ext cx="7143699" cy="4161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60158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BDE655DDF83B74D8E683187843F731F" ma:contentTypeVersion="16" ma:contentTypeDescription="Create a new document." ma:contentTypeScope="" ma:versionID="6a59a881e3ed389163ed0199bcfe181e">
  <xsd:schema xmlns:xsd="http://www.w3.org/2001/XMLSchema" xmlns:xs="http://www.w3.org/2001/XMLSchema" xmlns:p="http://schemas.microsoft.com/office/2006/metadata/properties" xmlns:ns3="080d4894-3692-41f1-8137-f571138324e5" xmlns:ns4="7909f0d1-6544-463d-b23e-3b1ad240455f" targetNamespace="http://schemas.microsoft.com/office/2006/metadata/properties" ma:root="true" ma:fieldsID="2544840f364be16e558b65b4e74d996a" ns3:_="" ns4:_="">
    <xsd:import namespace="080d4894-3692-41f1-8137-f571138324e5"/>
    <xsd:import namespace="7909f0d1-6544-463d-b23e-3b1ad240455f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KeyPoints" minOccurs="0"/>
                <xsd:element ref="ns4:MediaServiceKeyPoints" minOccurs="0"/>
                <xsd:element ref="ns4:MediaServiceAutoTags" minOccurs="0"/>
                <xsd:element ref="ns4:MediaLengthInSeconds" minOccurs="0"/>
                <xsd:element ref="ns4:MediaServiceDateTaken" minOccurs="0"/>
                <xsd:element ref="ns4:MediaServiceGenerationTime" minOccurs="0"/>
                <xsd:element ref="ns4:MediaServiceEventHashCode" minOccurs="0"/>
                <xsd:element ref="ns4:MediaServiceLocation" minOccurs="0"/>
                <xsd:element ref="ns4:MediaServiceOCR" minOccurs="0"/>
                <xsd:element ref="ns4:_activity" minOccurs="0"/>
                <xsd:element ref="ns4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80d4894-3692-41f1-8137-f571138324e5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909f0d1-6544-463d-b23e-3b1ad240455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909f0d1-6544-463d-b23e-3b1ad240455f" xsi:nil="true"/>
  </documentManagement>
</p:properties>
</file>

<file path=customXml/itemProps1.xml><?xml version="1.0" encoding="utf-8"?>
<ds:datastoreItem xmlns:ds="http://schemas.openxmlformats.org/officeDocument/2006/customXml" ds:itemID="{AE06DB81-F44F-4794-8137-88B53552C6F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80d4894-3692-41f1-8137-f571138324e5"/>
    <ds:schemaRef ds:uri="7909f0d1-6544-463d-b23e-3b1ad240455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0110533-7D85-49DF-A8DD-C356484BD6B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A0D5925-037F-49C7-8D94-1BD634C7114A}">
  <ds:schemaRefs>
    <ds:schemaRef ds:uri="http://schemas.microsoft.com/office/infopath/2007/PartnerControls"/>
    <ds:schemaRef ds:uri="http://purl.org/dc/terms/"/>
    <ds:schemaRef ds:uri="http://purl.org/dc/elements/1.1/"/>
    <ds:schemaRef ds:uri="http://schemas.microsoft.com/office/2006/documentManagement/types"/>
    <ds:schemaRef ds:uri="http://www.w3.org/XML/1998/namespace"/>
    <ds:schemaRef ds:uri="http://purl.org/dc/dcmitype/"/>
    <ds:schemaRef ds:uri="http://schemas.microsoft.com/office/2006/metadata/properties"/>
    <ds:schemaRef ds:uri="http://schemas.openxmlformats.org/package/2006/metadata/core-properties"/>
    <ds:schemaRef ds:uri="7909f0d1-6544-463d-b23e-3b1ad240455f"/>
    <ds:schemaRef ds:uri="080d4894-3692-41f1-8137-f571138324e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268</Words>
  <Application>Microsoft Office PowerPoint</Application>
  <PresentationFormat>Widescreen</PresentationFormat>
  <Paragraphs>51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1_Office Theme</vt:lpstr>
      <vt:lpstr>ME5412 Robotics for Healthcare Group Project Briefing</vt:lpstr>
      <vt:lpstr>PowerPoint Presentation</vt:lpstr>
      <vt:lpstr>PowerPoint Presentation</vt:lpstr>
      <vt:lpstr>PowerPoint Presentation</vt:lpstr>
      <vt:lpstr>Project Groups Formed</vt:lpstr>
      <vt:lpstr>Project Scopes</vt:lpstr>
      <vt:lpstr>Topics and Focuses</vt:lpstr>
      <vt:lpstr>Guideline on Presentations</vt:lpstr>
      <vt:lpstr>Simulator Example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ME5412 Robotics for Healthcare Module briefing</dc:title>
  <dc:creator>Cecilia Laschi</dc:creator>
  <cp:lastModifiedBy>Yu Haoyong</cp:lastModifiedBy>
  <cp:revision>8</cp:revision>
  <dcterms:created xsi:type="dcterms:W3CDTF">2023-09-20T03:33:41Z</dcterms:created>
  <dcterms:modified xsi:type="dcterms:W3CDTF">2026-09-29T00:19:01Z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0x0101009BDE655DDF83B74D8E683187843F731F</vt:lpwstr>
  </property>
</Properties>
</file>